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4" r:id="rId32"/>
    <p:sldId id="295" r:id="rId33"/>
    <p:sldId id="296" r:id="rId34"/>
    <p:sldId id="297" r:id="rId35"/>
    <p:sldId id="298" r:id="rId36"/>
    <p:sldId id="299" r:id="rId37"/>
    <p:sldId id="316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4" r:id="rId4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A68100-4DB1-4396-BEF3-B5592E1C87EF}" v="2" dt="2026-08-27T06:01:06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3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o Nunes" userId="6b4e29b0183cad7c" providerId="LiveId" clId="{87C430B2-9F16-4627-9682-FC96D35B4F1E}"/>
    <pc:docChg chg="custSel addSld delSld">
      <pc:chgData name="Claudio Nunes" userId="6b4e29b0183cad7c" providerId="LiveId" clId="{87C430B2-9F16-4627-9682-FC96D35B4F1E}" dt="2026-08-27T06:06:24.111" v="15"/>
      <pc:docMkLst>
        <pc:docMk/>
      </pc:docMkLst>
      <pc:sldChg chg="del">
        <pc:chgData name="Claudio Nunes" userId="6b4e29b0183cad7c" providerId="LiveId" clId="{87C430B2-9F16-4627-9682-FC96D35B4F1E}" dt="2026-08-27T06:00:57.282" v="0"/>
        <pc:sldMkLst>
          <pc:docMk/>
          <pc:sldMk cId="0" sldId="264"/>
        </pc:sldMkLst>
      </pc:sldChg>
      <pc:sldChg chg="del">
        <pc:chgData name="Claudio Nunes" userId="6b4e29b0183cad7c" providerId="LiveId" clId="{87C430B2-9F16-4627-9682-FC96D35B4F1E}" dt="2026-08-27T06:00:57.319" v="1"/>
        <pc:sldMkLst>
          <pc:docMk/>
          <pc:sldMk cId="0" sldId="265"/>
        </pc:sldMkLst>
      </pc:sldChg>
      <pc:sldChg chg="del">
        <pc:chgData name="Claudio Nunes" userId="6b4e29b0183cad7c" providerId="LiveId" clId="{87C430B2-9F16-4627-9682-FC96D35B4F1E}" dt="2026-08-27T06:00:57.332" v="2"/>
        <pc:sldMkLst>
          <pc:docMk/>
          <pc:sldMk cId="0" sldId="273"/>
        </pc:sldMkLst>
      </pc:sldChg>
      <pc:sldChg chg="del">
        <pc:chgData name="Claudio Nunes" userId="6b4e29b0183cad7c" providerId="LiveId" clId="{87C430B2-9F16-4627-9682-FC96D35B4F1E}" dt="2026-08-27T06:00:57.342" v="3"/>
        <pc:sldMkLst>
          <pc:docMk/>
          <pc:sldMk cId="0" sldId="274"/>
        </pc:sldMkLst>
      </pc:sldChg>
      <pc:sldChg chg="del">
        <pc:chgData name="Claudio Nunes" userId="6b4e29b0183cad7c" providerId="LiveId" clId="{87C430B2-9F16-4627-9682-FC96D35B4F1E}" dt="2026-08-27T06:00:57.352" v="4"/>
        <pc:sldMkLst>
          <pc:docMk/>
          <pc:sldMk cId="0" sldId="283"/>
        </pc:sldMkLst>
      </pc:sldChg>
      <pc:sldChg chg="del">
        <pc:chgData name="Claudio Nunes" userId="6b4e29b0183cad7c" providerId="LiveId" clId="{87C430B2-9F16-4627-9682-FC96D35B4F1E}" dt="2026-08-27T06:00:57.360" v="5"/>
        <pc:sldMkLst>
          <pc:docMk/>
          <pc:sldMk cId="0" sldId="284"/>
        </pc:sldMkLst>
      </pc:sldChg>
      <pc:sldChg chg="del">
        <pc:chgData name="Claudio Nunes" userId="6b4e29b0183cad7c" providerId="LiveId" clId="{87C430B2-9F16-4627-9682-FC96D35B4F1E}" dt="2026-08-27T06:00:57.370" v="6"/>
        <pc:sldMkLst>
          <pc:docMk/>
          <pc:sldMk cId="0" sldId="292"/>
        </pc:sldMkLst>
      </pc:sldChg>
      <pc:sldChg chg="del">
        <pc:chgData name="Claudio Nunes" userId="6b4e29b0183cad7c" providerId="LiveId" clId="{87C430B2-9F16-4627-9682-FC96D35B4F1E}" dt="2026-08-27T06:00:57.378" v="7"/>
        <pc:sldMkLst>
          <pc:docMk/>
          <pc:sldMk cId="0" sldId="293"/>
        </pc:sldMkLst>
      </pc:sldChg>
      <pc:sldChg chg="del">
        <pc:chgData name="Claudio Nunes" userId="6b4e29b0183cad7c" providerId="LiveId" clId="{87C430B2-9F16-4627-9682-FC96D35B4F1E}" dt="2026-08-27T06:05:40.827" v="13"/>
        <pc:sldMkLst>
          <pc:docMk/>
          <pc:sldMk cId="0" sldId="300"/>
        </pc:sldMkLst>
      </pc:sldChg>
      <pc:sldChg chg="del">
        <pc:chgData name="Claudio Nunes" userId="6b4e29b0183cad7c" providerId="LiveId" clId="{87C430B2-9F16-4627-9682-FC96D35B4F1E}" dt="2026-08-27T06:00:57.389" v="8"/>
        <pc:sldMkLst>
          <pc:docMk/>
          <pc:sldMk cId="0" sldId="301"/>
        </pc:sldMkLst>
      </pc:sldChg>
      <pc:sldChg chg="del">
        <pc:chgData name="Claudio Nunes" userId="6b4e29b0183cad7c" providerId="LiveId" clId="{87C430B2-9F16-4627-9682-FC96D35B4F1E}" dt="2026-08-27T06:00:57.398" v="9"/>
        <pc:sldMkLst>
          <pc:docMk/>
          <pc:sldMk cId="0" sldId="302"/>
        </pc:sldMkLst>
      </pc:sldChg>
      <pc:sldChg chg="del">
        <pc:chgData name="Claudio Nunes" userId="6b4e29b0183cad7c" providerId="LiveId" clId="{87C430B2-9F16-4627-9682-FC96D35B4F1E}" dt="2026-08-27T06:00:57.410" v="10"/>
        <pc:sldMkLst>
          <pc:docMk/>
          <pc:sldMk cId="0" sldId="312"/>
        </pc:sldMkLst>
      </pc:sldChg>
      <pc:sldChg chg="del">
        <pc:chgData name="Claudio Nunes" userId="6b4e29b0183cad7c" providerId="LiveId" clId="{87C430B2-9F16-4627-9682-FC96D35B4F1E}" dt="2026-08-27T06:00:57.424" v="11"/>
        <pc:sldMkLst>
          <pc:docMk/>
          <pc:sldMk cId="0" sldId="313"/>
        </pc:sldMkLst>
      </pc:sldChg>
      <pc:sldChg chg="add del">
        <pc:chgData name="Claudio Nunes" userId="6b4e29b0183cad7c" providerId="LiveId" clId="{87C430B2-9F16-4627-9682-FC96D35B4F1E}" dt="2026-08-27T06:06:24.111" v="15"/>
        <pc:sldMkLst>
          <pc:docMk/>
          <pc:sldMk cId="3223278812" sldId="315"/>
        </pc:sldMkLst>
      </pc:sldChg>
      <pc:sldChg chg="add">
        <pc:chgData name="Claudio Nunes" userId="6b4e29b0183cad7c" providerId="LiveId" clId="{87C430B2-9F16-4627-9682-FC96D35B4F1E}" dt="2026-08-27T06:06:24.096" v="14"/>
        <pc:sldMkLst>
          <pc:docMk/>
          <pc:sldMk cId="455893094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178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de apoio às duas primeiras atividades do projeto no Azure Boards. Pressupõe equipes já formadas, organização e projeto criados com o processo Agile (Parte 5 da proposta do projeto). Duração sugerida: duas aulas de 100 minutos, com execução na ferramenta na segunda metade de cada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desde o início que as Partes 1 a 4 existem para que as Partes 5 e 6 não sejam execução mecânica de cliques.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 clique nesta parte. O objetivo é que a equipe entenda o que está registrando antes de registrar.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o slide de pontos em aberto da proposta do projeto. A incerteza do briefing é intencional e é exatamente o que justifica trabalhar em ciclos.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Marcar bem que as atividades avaliadas agora são os passos 1 e 2; os demais aparecem nas etapas seguintes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'ordenada' e não apenas 'priorizada': prioridade em faixas ainda deixa a equipe sem saber por onde começar.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deliberadamente não técnico. Perguntar à turma qual seria o item 1 se a pessoa trabalhasse em casa — a ordem muda com o objetivo, e isso é o ponto.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sensível: como não há um PO externo, a equipe precisa defender a ordem com argumento tirado do briefing. Isso é avaliado.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processo escolhido no projeto é o Agile justamente por oferecer estes quatro níveis. O processo Basic não tem o nível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horizonte de tempo é o critério mais fácil de aplicar em sala. Se um item cabe em horas, é Task; se não cabe em uma sprint, ainda não é história.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o teste ao vivo com dois ou três itens propostos pela turma. É o momento de corrigir a confusão mais comum entre história e tarefa.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Domínio propositalmente distante do Connexa. Perguntar à turma o que aconteceria se cada Task virasse uma história: a sprint entregaria quatro itens e nenhum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equipes com backlogs idênticos indicam cópia, não convergência. Cada equipe recortou o problema de um jeito e precisa saber defender o recorte.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cada equipe encontre, no próprio rascunho, ao menos um item que se encaixe em um destes três erros.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Amarrar com o papel de guardião da qualidade definido na proposta do projeto: é quem recusa entrega sem verificação.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parte com maior peso na avaliação da Atividade 1: história sem critério de aceite não é contabilizada.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 curto e acionável no campo Title; a frase completa no Description. Isso torna o backlog legível quando há 30 itens.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 do estudante trabalhador vem do briefing. Mostrar a rastreabilidade: fala do envolvido → história → critério de aceite.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vale aplicar INVEST ao backlog inteiro: itens da base são propositalmente grossos e falham em E e S por definição.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clássico em projeto de disciplina: a Sprint 1 vira 'modelagem do banco'. Antecipar e proibir explicitamente.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cenário de exceção é o que revela regra de negócio ausente. No Connexa, isso ataca diretamente os pontos em aberto do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cada equipe leia em voz alta um critério próprio e a turma julgue se cabe em algum dos quatro padrões.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uma história recebe 13 pontos ou mais na estimativa, ela deve ser quebrada por um destes padrões antes de entrar na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decisões diferentes: a ordem é decisão de valor; o tamanho é decisão da equipe. Não confundir as duas.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campo interno é o Stack Rank; na interface aparece como a própria ordem da lista e pode ser exibido como Backlog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apóstrofo em Won't quebra alguns filtros e consultas; padronizar como Wont evita retrabalho na correção automatizada.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 com o quadrante baixo valor/baixo esforço: é onde a equipe se refugia quando o item importante dá medo.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Sugerir que a referência seja uma história de cadastro simples. Registrar qual foi a escolhida — a escala perde sentido se a âncora muda no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 app gratuito de planning poker, mas papel e caneta funcionam. O importante é o voto simultâneo.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de 2h a 8h por tarefa é o alvo. Tarefa de 20h impede acompanhamento: durante três dias o gráfico não se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daqui, executar na ferramenta com o projeto aberto. Pressupõe organização e projeto Connexa já criados com o processo Agile.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abrir cada página ao vivo por dez segundos. A confusão entre Boards, Backlogs e Sprints é a principal fonte de dúvida na primeira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equipe não fizer este ajuste, vai criar tudo como User Story por não enxergar os outros níveis — erro frequente e de correção trabalhosa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ao vivo os dois caminhos: pelo + do pai e pelo botão geral. A diferença no resultado é imediatamente visível.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como o Column Options exibe Story Points e Tags direto na lista — é assim que a equipe confere a própria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Ensinar a consulta de verificação é o que transforma a correção em algo que a própria equipe consegue antecipar.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explícito que o histórico de edição é consultado. Isso muda o comportamento de equipes em que um integrante faz tudo sozinho na véspera.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faz sentido depois da Atividade 1 corrigida: planeja-se a partir do topo de um backlog que já está ordenado.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da data fixa é o que ensina a equipe a estimar. Se o prazo escorrega, a estimativa nunca é confrontada com a realidade.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 para equipe de estudantes: 60 minutos ao todo, metade para cada pergunta. Cronometrar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 meta por escrito antes de qualquer clique na ferramenta. Equipes que pulam essa etapa selecionam itens desconexos entre 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cada integrante declare as horas em voz alta, na frente da equipe. Números otimistas em silêncio são a origem do estouro.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Sugerir que as datas da Sprint 1 sejam alinhadas com o calendário da disciplina, terminando um dia antes da aula de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ao vivo o arrasto com o painel Planning aberto. É a operação que mais gera dúvida e a mais rápida de demonstrar.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Cobrar o registro de riscos: é o que diferencia planejamento de preenchimento de formulário.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Distribuir os roteiros antes da aula prática. A rubrica detalhada evita a maior parte das dúvidas de correção.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reservando os últimos 20 minutos da aula para que cada equipe execute o passo 2 com o docente disponível para desbloqueio.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0" y="475488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691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Boards na prática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239572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Product Backlog ao planejamento da primeira Sprint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011680" y="3200400"/>
            <a:ext cx="5120640" cy="320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Claudio Nunes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6758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Engenharia de Software — Projeto Connexa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duas entregas desta etapa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equipe vai produzir e o caminho até lá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572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4300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1 — Product Backlog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435608"/>
            <a:ext cx="3877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Epic → Feature → User Story no Azure Boards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com critérios de aceite verificáveis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ordenado e classificado em MoSCoW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9744" y="1051560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09744" y="1051560"/>
            <a:ext cx="4572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74336" y="114300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2 — Planejamento da Sprint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435608"/>
            <a:ext cx="3877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sprint escrita e acordada pela equipe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selecionados dentro da capacidade real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estimadas em horas no Taskboard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457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85216" y="2596896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62456" y="2642616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vocabulário e a hierarquia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62456" y="2852928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sprint, papéis e os quatro níveis de work item do processo Agile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18688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3218688"/>
            <a:ext cx="457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85216" y="3236976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e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62456" y="3282696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Escrever, ordenar e dimensionar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62456" y="3493008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usuário, critérios de aceite, MoSCoW e estimativa relativa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457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85216" y="3877056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e 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62456" y="3922776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na ferramenta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62456" y="4133088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no Azure Boards, entregáveis e critérios de avaliação de cada atividade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44398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57200" y="44439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exemplo aparece duas vezes: primeiro em um domínio fora da disciplina, depois no Connexa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trabalho antes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ferramenta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229600" cy="320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sprint e papéis — o vocabulário mínimo para não usar o Azure Boards no escuro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35240" y="34061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não planejar tudo de uma vez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decidir cedo e decidir com informação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8872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fechado no início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38770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escopo é definido antes de qualquer entrega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decisões são tomadas quando se sabe menos sobre o problema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vira retrabalho e negociação de prazo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resultado utilizável aparece perto do fim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9744" y="10972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09744" y="1097280"/>
            <a:ext cx="45720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74336" y="118872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revisado a cada ciclo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481328"/>
            <a:ext cx="38770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próximo ciclo é detalhado; o resto permanece grosso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ciclo entrega algo utilizável e produz aprendizado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é esperada e entra pela reordenação do backlog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do erro é limitado ao tamanho do ciclo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45720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21792" y="3255264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muda no projeto de vocês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" y="3547872"/>
            <a:ext cx="7900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briefing do Connexa tem pontos deliberadamente em aberto — decidir tudo hoje seria decidir no chute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backlog é o lugar onde essas decisões vão sendo tomadas e registradas, item a item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equipe construirá tudo: o recorte é uma escolha da equipe, visível na ordem do backlog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ciclo que vamos usar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ciclo fechado que se repete a cada sprint — as duas atividades cobrem os passos 1 e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16152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52144" y="1188720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ordenar o Product Backlog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2144" y="1399032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se imagina fazer, em uma lista única e ordenada por valor  ·  ATIVIDADE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37944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1920240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1892808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a Sprint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" y="2103120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 meta, selecionar itens que cabem na capacidade e quebrá-los em tarefas  ·  ATIVIDADE 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624328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624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" y="2596896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a Sprint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" y="2807208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apenas nos itens selecionados; reunião diária curta para sincronizar e destravar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" y="3328416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52144" y="3300984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resultado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" y="3511296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que ficou pronto segundo o Definition of Done e coletar retorno de quem usa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0208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66928" y="4032504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" y="4032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52144" y="4005072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" y="4215384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processo da equipe e escolher um ajuste concreto para o próximo ciclo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backlog não termina no passo 1: ele é reordenado a cada volta do ciclo, com o que se aprendeu na anterior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Backlog: o que é e o que não 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única, ordenada e viva de tudo que se pretende fazer no produto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416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148132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499616"/>
            <a:ext cx="3730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ordenada: existe um primeiro e um último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única fonte de trabalho do produto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Detalhada no topo, grossa na base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Revisada continuamente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5152" y="1097280"/>
            <a:ext cx="40416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5720" cy="148132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28032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8032" y="1499616"/>
            <a:ext cx="3730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de tarefas técnicas da equipe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contrato de escopo fechado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depósito de tudo que alguém já pediu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cronograma com datas por item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40416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45720" cy="1481328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cuida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127248"/>
            <a:ext cx="3730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representa o cliente decide a ordem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decide o tamanho e o como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e estimativa são conversas distintas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5152" y="2724912"/>
            <a:ext cx="40416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45152" y="2724912"/>
            <a:ext cx="45720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28032" y="28346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muda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3127248"/>
            <a:ext cx="3730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se aprende algo sobre o problema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de cada sprint, na revisão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restrição nova aparece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se dois itens estão "empatados" na prioridade, o backlog ainda não está ordenado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backlog fora do software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outro domínio: preparar um apartamento alugado para morar, com duas semanas e orçamento curto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108960"/>
          </a:xfrm>
          <a:prstGeom prst="roundRect">
            <a:avLst>
              <a:gd name="adj" fmla="val 1765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1188720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BACKLOG — MUDANÇA PARA O APARTAMENTO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426464"/>
            <a:ext cx="47000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Ligar água, luz e internet          [Must]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Cama montada e funcional            [Must]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Fogão instalado e testado           [Must]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Chuveiro elétrico revisado          [Must]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Geladeira posicionada e ligada      [Should]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 Mesa de trabalho para estudo        [Should]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 Cortina no quarto                   [Should]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 Pintar a parede da sala             [Could]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 Quadros e prateleiras               [Could]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Trocar o piso do banheiro           [Won't]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32704" y="1097280"/>
            <a:ext cx="3383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632704" y="1097280"/>
            <a:ext cx="45720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797296" y="118872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backlog mostra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97296" y="1481328"/>
            <a:ext cx="30540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responde a uma pergunta: o que impede de dormir aqui hoje?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é um resultado percebido por quem vai morar, não uma tarefa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"Trocar o piso" não some — fica registrado como fora deste ciclo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32704" y="2724912"/>
            <a:ext cx="3383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632704" y="2724912"/>
            <a:ext cx="45720" cy="148132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797296" y="281635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raciocínio no Connexa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97296" y="3108960"/>
            <a:ext cx="30540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item, se faltar, impede um estudante de entrar em um grupo?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item vai para o topo, mesmo que seja tecnicamente simples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desejável e não bloqueia nada desce na lista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370832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3708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é aceitar que algo fica para depois — um backlog em que tudo é "Must" não foi priorizado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decide o quê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responsabilidades distintas — e como elas se distribuem na equipe da disciplina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4572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15214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19656" y="1197864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 do cliente (Product Owner)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19656" y="1408176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 ordem do backlog e o que significa "pronto" do ponto de vista de quem usa. Responde por valor entregue, não por linhas de código.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2002536"/>
            <a:ext cx="4572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202082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19656" y="2066544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desenvolvimento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9656" y="2276856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como construir, estima o esforço e diz quanto cabe na sprint. Ninguém de fora estima pela equipe.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4572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88950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19656" y="2935224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19656" y="3145536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 as reuniões, protege a sprint de mudanças de escopo no meio do caminho e remove impedimentos.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45720" cy="107899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21792" y="3749040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disciplina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" y="4041648"/>
            <a:ext cx="7900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é a coordenação do curso, representada pelo briefing do projeto e pelo docente em sala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exerce o papel de Product Owner: ordena o backlog e justifica a ordem a partir do briefing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de facilitador já existe na equipe e roda a cada etapa, como definido na proposta do projeto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hierarquia do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 Agile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229600" cy="320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Epic, Feature, User Story e Task: quatro níveis, quatro horizontes de tempo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35240" y="34061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Quatro níveis, quatro horizontes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nível de um item é determinado pelo tamanho do resultado, não pela dificuldade técnica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5720" cy="676656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133856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19656" y="1179576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amplo do produto  ·  meses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19656" y="138988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várias Features em torno de um mesmo resultado de negócio. Poucos por projeto — tipicamente de dois a quatro.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45720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9202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19656" y="196596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coerente de histórias  ·  semanas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9656" y="217627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bloco de funcionalidade que faz sentido anunciar para quem usa. Agrupa histórias relacionadas.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45720" cy="67665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706624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Story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19656" y="2752344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entregável em uma sprint  ·  dias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19656" y="2962656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um usuário identificável consegue fazer ao final. É o nível que a equipe leva para a sprint.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5720" cy="676656"/>
          </a:xfrm>
          <a:prstGeom prst="rect">
            <a:avLst/>
          </a:prstGeom>
          <a:solidFill>
            <a:srgbClr val="3A7CA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349300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C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19656" y="3538728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técnico de horas  ·  horas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19656" y="374904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decomposição de uma história em passos de execução. Sempre filha de uma história; nunca vive sozinha.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4572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21792" y="4425696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Bug também existe no processo Agile. Nesta disciplina ele só será usado a partir da etapa de implementação — nas duas atividades atuais, trabalhamos apenas com os quatro níveis acima.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que nível este item entra?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perguntas resolvem a maioria dos casos duvidosos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8229600" cy="268833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 resposta for…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item é…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percebe o resultado?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pessoa usando o sistema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percebe o resultado?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quem programa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 em uma sprint?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Não, leva semanas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 em uma sprint?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Não, atravessa o semestre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valor sozinho?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Sim, isolado já é útil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valor sozinho?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Não, só junto com outros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ou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41648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57200" y="40416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"Criar a tabela de usuários no banco" falha na primeira pergunta: ninguém que usa o sistema percebe esse resultado — é Task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 de outro domínio: PedeJá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de pedidos de um restaurante de bairro que hoje anota pedidos por telefone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834640"/>
          </a:xfrm>
          <a:prstGeom prst="roundRect">
            <a:avLst>
              <a:gd name="adj" fmla="val 1935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1188720"/>
            <a:ext cx="7900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HIERARQUIA COMPLETA DE UM RAMO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426464"/>
            <a:ext cx="79004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EPIC      Pedido feito pelo cliente sem ligação telefônica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FEATURE   Montagem do pedido pelo aplicativo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├─ USER STORY  Como cliente, quero adicionar um item ao carrinho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              para montar meu pedido antes de fechar a compra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      ├─ TASK  Modelar carrinho e itens no banco        (4h)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      ├─ TASK  Endpoint de inclusão de item            (5h)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      ├─ TASK  Tela de listagem com botão adicionar    (6h)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      └─ TASK  Testes dos casos de borda do carrinho   (3h)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 USER STORY  Como cliente, quero remover um item do carrinho…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FEATURE   Acompanhamento do pedido em preparo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07822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40782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Tasks juntas somam 18 horas e entregam uma única história — nenhuma delas, sozinha, é útil para o cliente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mesmo raciocínio no Connexa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ramo ilustrativo — a hierarquia da sua equipe nasce do briefing, não deste slide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286000"/>
          </a:xfrm>
          <a:prstGeom prst="roundRect">
            <a:avLst>
              <a:gd name="adj" fmla="val 2400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1188720"/>
            <a:ext cx="7900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RAMO ILUSTRATIVO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426464"/>
            <a:ext cx="79004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EPIC      Estudante encontra um grupo de estudo compatível sem depender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de conhecer alguém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FEATURE   Perfil de disponibilidade do estudante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├─ USER STORY  Como estudante, quero declarar meus horários livres…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 USER STORY  Como estudante, quero indicar as disciplinas que curso…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FEATURE   Descoberta de grupos abertos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 USER STORY  Como ingressante, quero ver os grupos da minha disciplina…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529584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3529584"/>
            <a:ext cx="45720" cy="1060704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21792" y="362102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vem cada nível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3913632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Epic: dos objetivos declarados pela instituição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dos territórios dentro do escopo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Story: das falas dos envolvidos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9744" y="3529584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809744" y="3529584"/>
            <a:ext cx="45720" cy="1060704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974336" y="362102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74336" y="3913632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copie este ramo: ele é um exemplo, não um gabarito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fora do escopo declarado não entram no backlog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em aberto no briefing vira decisão registrada, não suposição silenciosa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Três erros de nível que se repetem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reconhecer e como corrigir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416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que é, na verdade, uma tela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499616"/>
            <a:ext cx="37307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Errado: "Epic — Tela de login"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Certo: vira User Story dentro de uma Feature de acesso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Sinal: o item cabe em dias, não em meses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645152" y="1097280"/>
            <a:ext cx="40416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5720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28032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que é uma camada técnica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8032" y="1499616"/>
            <a:ext cx="37307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Errado: "Criar o banco de dados do sistema"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Certo: vira Task de uma história que entrega valor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Sinal: só quem programa percebe o resultado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0416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45720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9077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órfã, sem história-mãe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37307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Errado: Task solta no backlog do produto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Certo: toda Task pendura em uma User Story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Sinal: aparece no grupo "Unparented" do Taskboard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45152" y="2798064"/>
            <a:ext cx="45720" cy="1554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28032" y="29077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único que evita os três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3200400"/>
            <a:ext cx="37307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frase: "ao final, alguém consegue…"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"alguém" for a própria equipe, o item é Task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frase não fecha, o item ainda é grande demais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estados do processo Agile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é diferente do processo Scrum — no Agile, User Story passa por Resolved antes de Closed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243584"/>
          </a:xfrm>
          <a:prstGeom prst="roundRect">
            <a:avLst>
              <a:gd name="adj" fmla="val 4412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1188720"/>
            <a:ext cx="7900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FLUXO DE ESTADOS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426464"/>
            <a:ext cx="7900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Story    New  →  Active  →  Resolved  →  Closed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         New  →  Active  →  Closed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Qualquer um   →  Removed   (descartado sem ser feito, mas com histórico preservado)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23744"/>
          <a:ext cx="8229600" cy="15544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significa na disciplina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move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registrado no backlog, ainda não iniciado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cria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Alguém está trabalhando nele agora, dentro da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assume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Resolved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Trabalho concluído, aguardando verificação dos critérios de aceite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executou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Closed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Critérios de aceite verificados e Definition of Done atendido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Guardião da qualidade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20624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para Closed sem verificar os critérios de aceite é o atalho que a etapa de verificação vai cobrar depois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Histórias de usuário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funcionam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229600" cy="320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da história, o teste INVEST e critérios de aceite verificáveis em Gherkin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35240" y="34061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forma da história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lacunas obrigatórias — a terceira é a que costuma ser esquecida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1225296"/>
            <a:ext cx="79004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 &lt;papel&gt;,  quero  &lt;ação&gt;,  para  &lt;benefício&gt;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quem usa       o que faz      por que importa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31136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4572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85216" y="2249424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&lt;papel&gt;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65376" y="2295144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papel específico, não "o usuário"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65376" y="2505456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Connexa há pelo menos quatro papéis distintos: ingressante, estudante trabalhador, monitor e coordenação. Trocar o papel muda a história.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72384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4572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85216" y="309067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&lt;ação&gt;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65376" y="313639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capacidade, não uma solução de tela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65376" y="3346704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"Quero ver os grupos compatíveis" descreve a capacidade; "quero um dropdown com filtro" já decide a interface e fecha o espaço de solução.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13632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57200" y="3913632"/>
            <a:ext cx="45720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85216" y="3931920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&lt;benefício&gt;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65376" y="3977640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motivo — a parte que permite priorizar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65376" y="4187952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"para", não há como comparar valor entre duas histórias. Se o benefício não se escreve, provavelmente o item não deveria existir.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590288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da história vai no campo Description do work item; o título é a versão curta, sem o "Como…, quero…"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 e depois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reescritas — a primeira no domínio do PedeJá, a segunda no Connexa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5720" cy="175564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463040"/>
            <a:ext cx="38770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PedeJá: "Tela de cupom"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diz quem usa, nem o que consegue fazer, nem por quê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Connexa: "Filtro de horário"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Nomeia um componente de interface, não um resultado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809744" y="1078992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09744" y="1078992"/>
            <a:ext cx="45720" cy="175564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74336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ficou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463040"/>
            <a:ext cx="38770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PedeJá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cliente cadastrado, quero aplicar um cupom válido ao meu pedido, para pagar menos sem precisar ligar para o restaurante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estudante do noturno, quero ver apenas os grupos que se encontram no meu horário livre, para não entrar em um grupo ao qual não conseguirei comparecer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4572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21792" y="3072384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reescrita mudou na prática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" y="3364992"/>
            <a:ext cx="7900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Apareceu um papel específico — e com ele, a possibilidade de perguntar a alguém se a história está certa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Apareceu um benefício verificável — o critério de aceite agora tem o que verificar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Sumiu a decisão de interface — a equipe continua livre para resolver com lista, filtro ou sugestão automática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história ficou maior em texto e menor em ambiguidade: é essa a troca que interessa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teste INVEST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atributos de uma história pronta para entrar em uma sprint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4164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0700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52144" y="121615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" y="144475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8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feita sem depender da ordem de outra história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04164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54880" y="1207008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54880" y="120700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0096" y="121615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0096" y="144475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8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o quê, não o como; o detalhe se combina na conversa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57200" y="1993392"/>
            <a:ext cx="404164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103120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10312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2144" y="2112264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" y="234086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8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identificável ganha algo quando ela fica pronta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645152" y="1993392"/>
            <a:ext cx="404164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54880" y="2103120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54880" y="210312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0096" y="2112264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0096" y="234086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8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consegue dizer um tamanho; se não consegue, falta informação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57200" y="2889504"/>
            <a:ext cx="404164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66928" y="2999232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" y="2999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52144" y="300837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2144" y="323697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8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confortavelmente em uma sprint, com folga para verificação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645152" y="2889504"/>
            <a:ext cx="404164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754880" y="2999232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754880" y="2999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0096" y="300837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0096" y="323697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8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 critério objetivo que diz se está pronta ou não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457200" y="3858768"/>
            <a:ext cx="8229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57200" y="3858768"/>
            <a:ext cx="45720" cy="877824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21792" y="3950208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o teste na prática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1792" y="4242816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apenas às histórias do topo do backlog — as que entram na próxima sprint ou na seguinte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Falhar em E ou S quase sempre significa que a história precisa ser quebrada, não reescrita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Fatia vertical, não camada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entregar um pedaço de tudo e entregar tudo de um pedaço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2062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5720" cy="239572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por camada  (não funciona)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3694176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157276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2121408"/>
            <a:ext cx="3694176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13232" y="212140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2670048"/>
            <a:ext cx="3694176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13232" y="267004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3232" y="3072384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da sprint: três partes prontas, nada utilizável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9744" y="1078992"/>
            <a:ext cx="42062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809744" y="1078992"/>
            <a:ext cx="45720" cy="239572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974336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por fatia  (funciona)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65776" y="1572768"/>
            <a:ext cx="1097280" cy="1426464"/>
          </a:xfrm>
          <a:prstGeom prst="rect">
            <a:avLst/>
          </a:prstGeom>
          <a:solidFill>
            <a:srgbClr val="E8F8F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065776" y="1572768"/>
            <a:ext cx="10972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572768"/>
            <a:ext cx="1097280" cy="1426464"/>
          </a:xfrm>
          <a:prstGeom prst="rect">
            <a:avLst/>
          </a:prstGeom>
          <a:solidFill>
            <a:srgbClr val="E8F8F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09360" y="1572768"/>
            <a:ext cx="10972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52944" y="1572768"/>
            <a:ext cx="1097280" cy="1426464"/>
          </a:xfrm>
          <a:prstGeom prst="rect">
            <a:avLst/>
          </a:prstGeom>
          <a:solidFill>
            <a:srgbClr val="E8F8F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552944" y="1572768"/>
            <a:ext cx="10972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65776" y="3072384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fatia atravessa as três camadas e já é utilizável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21024"/>
            <a:ext cx="8229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3621024"/>
            <a:ext cx="45720" cy="93268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21792" y="3749040"/>
            <a:ext cx="79004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fatia vertical permite mostrar resultado ao cliente ao fim da primeira sprint — a divisão por camada, não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vale especialmente para a Sprint 1: uma fatia estreita e completa vale mais que três camadas pela metade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Critérios de aceite em Gherkin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obrigatório na disciplina — vai no campo Acceptance Criteria do work item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5074920" cy="3108960"/>
          </a:xfrm>
          <a:prstGeom prst="roundRect">
            <a:avLst>
              <a:gd name="adj" fmla="val 1765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1152144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PEDEJÁ — HISTÓRIA DO CUPOM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389888"/>
            <a:ext cx="47457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Cenário: cupom válido aplicado ao pedido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Dado que o pedido tem valor de R$ 60,00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que o cupom BEMVINDO10 está ativo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Quando o cliente aplica o cupom BEMVINDO10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Então o total exibido passa a ser R$ 54,00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Cenário: cupom expirado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Dado que o cupom FERIAS20 expirou ontem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Quando o cliente aplica o cupom FERIAS20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Então o total permanece inalterado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a mensagem "cupom expirado" é exibida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Cenário: valor mínimo não atingido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Dado que o cupom exige pedido acima de R$ 40,00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que o pedido tem valor de R$ 25,00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Quando o cliente aplica o cupom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Então o cupom é recusado com o motivo informado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78424" y="1060704"/>
            <a:ext cx="33375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678424" y="1060704"/>
            <a:ext cx="4572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43016" y="115214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43016" y="1444752"/>
            <a:ext cx="30083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— o estado do mundo antes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— a ação de quem usa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— o resultado observável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encadeia condições ou resultados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678424" y="2651760"/>
            <a:ext cx="333756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678424" y="2651760"/>
            <a:ext cx="45720" cy="15179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843016" y="274320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da disciplina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43016" y="3035808"/>
            <a:ext cx="30083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três a seis cenários por história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incluir ao menos um caminho de exceção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concretos, não "um valor qualquer"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referência a tabela, classe ou endpoint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57200" y="426110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critério bem escrito hoje vira caso de teste automatizado na etapa de verificação — é o mesmo texto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Critérios que não servem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padrões recusados na correção, com a versão corrigida ao lado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8346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 recusado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 sistema deve funcionar corretamente"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Nomear o resultado observável e o valor esperado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 implementação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"Então um registro é inserido na tabela grupos"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"Então o grupo aparece na lista do estudante"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Repete o título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"Então o estudante consegue entrar no grupo"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Descrever o efeito visível: o que muda na tela e no 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caminho feliz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Três cenários, todos com dados válidos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Incluir recusa, limite e dado ausente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13632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57200" y="39136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rápido: se duas pessoas podem discordar sobre o critério ter sido atendido, ele ainda não está pronto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Quebrando uma história grande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padrões de divisão — todos preservam a fatia vertical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57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13385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11096" y="1179576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passo do fluxo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11096" y="1389888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grupo · entrar no grupo · sair do grupo — cada passo vira uma história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1764792"/>
            <a:ext cx="457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78308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PERFIL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11096" y="1828800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tipo de usuário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11096" y="2039112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o ingressante, depois o estudante trabalhador; a regra muda com o perfil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414016"/>
            <a:ext cx="457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432304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11096" y="2478024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regra de negócio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11096" y="2688336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 direto agora; aprovação por integrante em uma história seguinte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45720" cy="548640"/>
          </a:xfrm>
          <a:prstGeom prst="rect">
            <a:avLst/>
          </a:prstGeom>
          <a:solidFill>
            <a:srgbClr val="3A7CA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3081528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7C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911096" y="3127248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variação de dado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11096" y="3337560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presencial primeiro; encontro remoto como história separada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712464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3712464"/>
            <a:ext cx="457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5216" y="373075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EXCEÇÃO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911096" y="3776472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caminho feliz e as exceções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911096" y="3986784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principal em uma história; recusas, limites e conflitos em outra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44398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7200" y="44439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nunca é padrão de divisão: separar frontend de backend, ou tela de banco de dados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Ordenar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dimensionar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229600" cy="320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MoSCoW, valor × esforço e estimativa relativa em Story Points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35240" y="34061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Ordenar não é etiquetar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do backlog é a decisão; a etiqueta apenas comunica o raciocínio por trás dela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153619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8872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38770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sequência real dos itens na página de backlog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Azure Boards, arrastar o item grava o campo Backlog Priority — não existe empate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se a equipe só conseguir fazer três coisas, quais são?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9744" y="1097280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09744" y="1097280"/>
            <a:ext cx="45720" cy="153619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74336" y="118872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etiqueta MoSCoW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481328"/>
            <a:ext cx="38770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Tag no work item, usada para filtrar e conversar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 a natureza do compromisso: obrigatório, importante, desejável, descartado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a ordem: dez itens "Must" ainda precisam de uma sequência entre si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761488"/>
            <a:ext cx="4572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85216" y="277977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1º critério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819656" y="2825496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quem usa e para a instituição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19656" y="3035808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o item aproxima o produto do resultado declarado no briefing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3364992"/>
            <a:ext cx="45720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85216" y="33832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2º critério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819656" y="342900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e incerteza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19656" y="3639312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que testam a suposição mais arriscada sobem: errar cedo custa menos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96849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57200" y="3968496"/>
            <a:ext cx="45720" cy="51206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85216" y="398678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3º critério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819656" y="4032504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819656" y="4242816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é pré-requisito real de B, A vem antes — mas desconfie de dependências inventadas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é decisão de quem representa o cliente; tamanho é decisão de quem constrói — nunca troque os papéis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MoSCoW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níveis de compromisso — exemplos no domínio do PedeJá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416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 ·  sem isso não há produto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499616"/>
            <a:ext cx="37307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faltar, a entrega não faz sentido nenhum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PedeJá: fechar um pedido e enviá-lo à cozinha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prático: até 60% do esforço da sprint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645152" y="1097280"/>
            <a:ext cx="40416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572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28032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 ·  importante, mas contornável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8032" y="1499616"/>
            <a:ext cx="37307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Dói ficar sem, mas existe alternativa temporária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PedeJá: acompanhar o status do pedido em tempo real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assim que os Must estiverem seguros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40416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457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81635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 ·  desejável se sobrar espaço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7307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a experiência, não sustenta o resultado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PedeJá: salvar pedidos favoritos para repetir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primeiro a sair quando a sprint aperta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645152" y="2706624"/>
            <a:ext cx="40416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45152" y="2706624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28032" y="281635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 ·  fora deste ciclo, por decisão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3108960"/>
            <a:ext cx="37307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Decidido conscientemente, com registro do motivo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PedeJá: programa de pontos e fidelidade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não é "nunca": é "não agora"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7200" y="42793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Azure Boards, MoSCoW é registrado como Tag: Must, Should, Could ou Wont — sem apóstrofo, para permitir filtro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 × esforço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leitura rápida quando duas histórias parecem igualmente importantes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41648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142646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valor · baixo esforço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499616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primeiro, sem discussão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a Sprint 1 deve concentrar o escopo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Connexa: ver a lista de grupos abertos da disciplina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645152" y="1097280"/>
            <a:ext cx="4041648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5720" cy="1426464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28032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valor · alto esforço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8032" y="1499616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Quebre em fatias menores antes de agendar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couber quebrado, exige mais de uma sprint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Connexa: sugestão automática por compatibilidade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4041648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45720" cy="1426464"/>
          </a:xfrm>
          <a:prstGeom prst="rect">
            <a:avLst/>
          </a:prstGeom>
          <a:solidFill>
            <a:srgbClr val="5A718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7797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valor · baixo esforço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072384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só quando houver folga real na sprint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justifica deslocar um item de alto valor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645152" y="2670048"/>
            <a:ext cx="4041648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45152" y="2670048"/>
            <a:ext cx="45720" cy="1426464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28032" y="27797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valor · alto esforço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3072384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faça neste ciclo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como Wont e registre o motivo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quadrante que mais consome sprint de estudante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esforço só entra na conversa depois da estimativa — priorizar por "parece fácil" é chute disfarçado de critério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Estimativa relativa e Story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é mais confiável que cronometrar — sobretudo em equipe sem histórico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5720" cy="137160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estimar em horas a história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463040"/>
            <a:ext cx="3877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diferentes levam tempos diferentes na mesma história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"Quatro horas" vira compromisso e pressão; ninguém quer errar publicamente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sabe estimar bem é comparação, não duração absoluta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809744" y="1078992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09744" y="1078992"/>
            <a:ext cx="4572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74336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ponto mede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463040"/>
            <a:ext cx="3877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trabalho, complexidade e incerteza, juntos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em relação a uma história de referência escolhida pela equipe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é da equipe: comparar pontos entre equipes não significa nada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8229600" cy="1060704"/>
          </a:xfrm>
          <a:prstGeom prst="roundRect">
            <a:avLst>
              <a:gd name="adj" fmla="val 5172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21792" y="2688336"/>
            <a:ext cx="7900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 DE FIBONACCI  ·  A DISTÂNCIA CRESCE PORQUE A INCERTEZA CRESCE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926080"/>
            <a:ext cx="7900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1     2     3     5     8     13     21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trivial    referência    grande    quebrar antes de planejar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82296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57200" y="3785616"/>
            <a:ext cx="45720" cy="950976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21792" y="3877056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a história de referência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 uma história pequena, bem entendida por todos, e chame-a de 3 pontos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demais são estimadas por comparação com ela: metade do trabalho é 1 ou 2; o dobro é 5 ou 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Poker em cinco passos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 minutos bem gastos evitam uma sprint inteira mal dimensionada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16152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52144" y="1188720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a história e os critérios de aceite em voz alta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2144" y="1399032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escreveu a história esclarece dúvidas; ninguém estima o que não entendeu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37944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1920240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2144" y="1892808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escolhe um valor em silêncio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" y="2103120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Silêncio é essencial: o primeiro número dito em voz alta ancora todos os outros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624328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624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" y="2596896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Revelar simultaneamente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" y="2807208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todos convergirem, registre o valor e siga para a próxima história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" y="3328416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52144" y="3300984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Discutir apenas os extremos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" y="3511296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deu o menor e quem deu o maior explicam o que enxergaram — é aqui que aparece o requisito esquecido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0208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66928" y="4032504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" y="4032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52144" y="4005072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Reestimar uma vez e fechar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" y="4215384"/>
            <a:ext cx="738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Persistindo a divergência, adote o maior valor e registre a dúvida no item; não gaste uma terceira rodada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 vale mais que o número: quando duas pessoas divergem muito, elas entenderam a história de formas diferentes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Pontos ou horas?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— em níveis diferentes; confundir os dois campos é o erro mais comum na primeira sprint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243230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no 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Work  (horas)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 relativo, escala Fibonacci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 de trabalho da pessoa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estima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equipe inteira, junta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vai executar a tarefa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é estimado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refinar o backlog, antes da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planejamento, ao quebrar a história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serve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histórias e prever velocidade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o plano com a capacidade da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saudável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1, 2, 3, 5, 8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 a 8h por tarefa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98848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57200" y="44988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estimada em mais de 8 horas quase sempre esconde duas tarefas — ou uma dúvida que ninguém resolveu ainda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Atividade 1 — montar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Product Backlog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229600" cy="320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no Azure Boards, campos obrigatórios e critérios de avaliação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35240" y="34061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cada coisa fica no Azure Boards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páginas dentro do menu Boards — nas duas atividades usaremos quatro delas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41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070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53312" y="12161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3312" y="14447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plana de todos os itens do projeto, com filtros. Bom para achar algo perdido.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041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54880" y="1207008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54880" y="12070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41264" y="12161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41264" y="14447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kanban das histórias, por estado. Usado durante a execução da sprint.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029968"/>
            <a:ext cx="4041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139696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1396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53312" y="2148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23774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da Atividade 1: hierarquia, ordem e níveis Epics, Features e Stories.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45152" y="2029968"/>
            <a:ext cx="4041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54880" y="2139696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54880" y="21396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41264" y="2148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41264" y="23774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da Atividade 2: backlog da sprint, Taskboard e capacidade da equipe.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2962656"/>
            <a:ext cx="4041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66928" y="3072384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" y="3072384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53312" y="3081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53312" y="33101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salvas sobre os itens. Útil para conferir a própria entrega antes de submeter.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45152" y="2962656"/>
            <a:ext cx="4041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754880" y="3072384"/>
            <a:ext cx="658368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754880" y="3072384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41264" y="3081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41264" y="33101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calendário entre equipes. Não será usada nesta etapa.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398678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57200" y="39867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 e Sprints mostram os mesmos itens sob recortes diferentes: o produto inteiro e a fatia da sprint corrente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 de criar: habilitar os três níveis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padrão, a equipe enxerga apenas o nível Stories — sem este ajuste, Epics e Features ficam invisíveis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207008"/>
            <a:ext cx="7351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as configurações da equipe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7351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Settings  ›  Boards  ›  Team configuration  (ou o ícone de engrenagem na própria página de Backlogs)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198424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1956816"/>
            <a:ext cx="7351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a aba Backlogs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88720" y="2167128"/>
            <a:ext cx="7351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Epics, Features e Stories — os três níveis passam a aparecer no seletor da página de backlog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73405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734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2706624"/>
            <a:ext cx="7351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os dias úteis da equipe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88720" y="2916936"/>
            <a:ext cx="7351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aba Working days, marcar os dias em que a equipe realmente trabalha; isso alimenta o cálculo de capacidade da Atividade 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" y="3483864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" y="3483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3456432"/>
            <a:ext cx="7351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quem tem acesso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88720" y="3666744"/>
            <a:ext cx="7351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integrantes com nível Basic e o docente adicionado ao projeto, conforme a proposta do projeto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462272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seletor de nível fica no alto da página Backlogs: alterne entre Epics, Features e Stories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a hierarquia, de cima para baixo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do maior para o menor: o vínculo pai-filho nasce pronto quando se cria pelo item pai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1615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33856" y="118872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 nível Epics na página Backlogs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33856" y="13990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de dois a quatro Epics com New Work Item; o título nomeia um resultado, não um módulo do sistema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189280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33856" y="1865376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o Epic e adicionar Features filhas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3856" y="20756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sinal + à esquerda do Epic: a Feature já nasce vinculada como filha, sem passo extra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87168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569464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3856" y="254203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cada Feature e adicionar as User Stories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3856" y="275234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procedimento pelo sinal +; a história herda o vínculo com a Feature automaticamente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63824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" y="32461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3856" y="321868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Description e Acceptance Criteria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3856" y="34290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cada história e escrever a frase completa e os cenários em Gherkin; salvar com Save &amp; Close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66928" y="392277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33856" y="3895344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vínculos errados pelo painel Mapping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3856" y="41056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options  ›  Mapping: arraste a história solta sobre a Feature correta para reparentá-la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17136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7200" y="45171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criado pelo botão geral, sem passar pelo pai, nasce órfão — e some da árvore quando o nível exibido muda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Campos obrigatórios na disciplina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incompleto não é contabilizado na correção — a verificação é automatizada</a:t>
            </a:r>
            <a:endParaRPr lang="en-US" sz="13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21132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Campos obrigatórios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Epic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· 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descrição cita a meta institucional e o ator beneficiado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Feature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· 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descrição declara o impacto esperado da funcionalidade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 Story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· Description · Acceptance Criteria · Story Points · Tag MoSCoW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descrição usa a forma "Como…, quero…, para…"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· Remaining Work · vínculo com a história-mãe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Criadas apenas na Atividade 2, durante o planejamento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383280"/>
            <a:ext cx="8229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57200" y="3383280"/>
            <a:ext cx="45720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21792" y="3474720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opcionais que ajudam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" y="3767328"/>
            <a:ext cx="7900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Area: Business para o que o usuário percebe, Architectural para trabalho de sustentação técnica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(1 a 4): útil como segundo eixo de leitura, sem substituir a ordem do backlog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To: só faz sentido a partir da sprint; no backlog do produto, deixe em branco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48056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Tags MoSCoW usam exatamente estas quatro grafias: Must, Should, Could, Wont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Ordenar, etiquetar e conferir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meia hora da atividade — é onde a maioria dos pontos se ganha ou se perde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207008"/>
            <a:ext cx="7333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por arrasto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07008" y="1417320"/>
            <a:ext cx="7333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página Backlogs, arraste as histórias até que a sequência reflita a decisão da equipe; a posição é gravada automaticamente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2002536"/>
            <a:ext cx="493776" cy="493776"/>
          </a:xfrm>
          <a:prstGeom prst="roundRect">
            <a:avLst>
              <a:gd name="adj" fmla="val 9259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20025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07008" y="1975104"/>
            <a:ext cx="7333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as Tags MoSCoW em lote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07008" y="2185416"/>
            <a:ext cx="7333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várias histórias com Ctrl, clique com o botão direito e use Edit para aplicar a mesma tag de uma vez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770632"/>
            <a:ext cx="493776" cy="493776"/>
          </a:xfrm>
          <a:prstGeom prst="roundRect">
            <a:avLst>
              <a:gd name="adj" fmla="val 9259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770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2743200"/>
            <a:ext cx="7333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as colunas de conferência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07008" y="2953512"/>
            <a:ext cx="7333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Options: adicionar Story Points, Tags e State — a conferência vira leitura de uma tela só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5643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" y="3538728"/>
            <a:ext cx="493776" cy="493776"/>
          </a:xfrm>
          <a:prstGeom prst="roundRect">
            <a:avLst>
              <a:gd name="adj" fmla="val 9259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" y="35387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07008" y="3511296"/>
            <a:ext cx="7333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consulta de verificação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07008" y="3721608"/>
            <a:ext cx="7333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Queries, filtrar User Story com Story Points vazio; o resultado precisa vir sem nenhuma linha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79392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4279392"/>
            <a:ext cx="4572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21792" y="440740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 a mesma consulta trocando o campo: Acceptance Criteria vazio, Description vazio e Tags vazio. Quatro consultas, quatro resultados vazios — a entrega está completa.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Atividade 1 — o que entregar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Prazo, escopo mínimo e forma de submissão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9500"/>
            <a:ext cx="8229600" cy="154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79500"/>
            <a:ext cx="50800" cy="15494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2300" y="1168400"/>
            <a:ext cx="789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mínimo no Azure Boards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2300" y="14986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pt-B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4 Epics cobrindo os objetivos do briefing</a:t>
            </a:r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pt-B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8 Features distribuídas entre os Epics</a:t>
            </a:r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pt-B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 18 User Stories, todas filhas de alguma Feature</a:t>
            </a:r>
          </a:p>
        </p:txBody>
      </p:sp>
      <p:sp>
        <p:nvSpPr>
          <p:cNvPr id="12" name="Text 10"/>
          <p:cNvSpPr/>
          <p:nvPr/>
        </p:nvSpPr>
        <p:spPr>
          <a:xfrm>
            <a:off x="4635500" y="1498600"/>
            <a:ext cx="3886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pt-B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das histórias com critérios de aceite em Gherkin</a:t>
            </a:r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pt-B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das histórias com Story Points e Tag MoSCoW</a:t>
            </a:r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pt-BR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ordenado, sem empates de prioridade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" y="2794000"/>
            <a:ext cx="82296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794000"/>
            <a:ext cx="50800" cy="736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84200" y="2908300"/>
            <a:ext cx="128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SUBMISSÃO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55800" y="2921000"/>
            <a:ext cx="657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55800" y="3149600"/>
            <a:ext cx="65786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pt-BR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projeto no Azure Boards com o docente já adicionado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3683000"/>
            <a:ext cx="82296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3683000"/>
            <a:ext cx="50800" cy="736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84200" y="3797300"/>
            <a:ext cx="128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55800" y="3810000"/>
            <a:ext cx="657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conjunto, registro individual visível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55800" y="4038600"/>
            <a:ext cx="65786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integrantes precisam ter criado ou editado itens: o histórico do work item é consultado na correção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55893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Atividade 2 — planejar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Sprint 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229600" cy="320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capacidade, seleção de itens e decomposição em tarefas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35240" y="340614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uma Sprint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intervalo de duração fixa que termina com algo verificável — nesta disciplina, duas semanas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416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5720" cy="1481328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fixa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499616"/>
            <a:ext cx="3730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de fim não se move, nunca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trabalho não couber, o escopo diminui — o prazo não aumenta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constante é o que permite comparar sprints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645152" y="1097280"/>
            <a:ext cx="40416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45720" cy="148132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28032" y="120700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meta única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8032" y="1499616"/>
            <a:ext cx="3730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frase que diz o que a sprint pretende alcançar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para decidir o que fazer quando algo dá errado no meio do caminho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 lista de itens: é o motivo pelo qual eles foram escolhidos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40416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45720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acordado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127248"/>
            <a:ext cx="3730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itens saem do topo do backlog já ordenado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novo não entra no meio da sprint: vai para o backlog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decide quanto cabe é quem vai executar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645152" y="2724912"/>
            <a:ext cx="404164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45152" y="2724912"/>
            <a:ext cx="45720" cy="1481328"/>
          </a:xfrm>
          <a:prstGeom prst="rect">
            <a:avLst/>
          </a:prstGeom>
          <a:solidFill>
            <a:srgbClr val="F4A2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28032" y="283464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verificável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3127248"/>
            <a:ext cx="3730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final, cada item selecionado está pronto ou não está — não existe "80% pronto"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significa: critérios de aceite verificados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não concluído volta ao backlog e é reordenado — ele não "transborda" automaticamente para a sprint seguinte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duas perguntas do planejamento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reunião tem duas metades e elas não se misturam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20624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5720" cy="2157984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 quê  —  seleção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463040"/>
            <a:ext cx="38770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partida: o topo do backlog ordenado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a meta da sprint antes de escolher os itens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itens que sustentam a meta, do topo para baixo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quando a soma dos pontos se aproximar da capacidade estimada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lista de histórias com Iteration Path na Sprint 1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809744" y="1078992"/>
            <a:ext cx="420624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09744" y="1078992"/>
            <a:ext cx="45720" cy="215798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74336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Como  —  decomposição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463040"/>
            <a:ext cx="38770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história selecionada, listar as tarefas necessárias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cada tarefa em horas, no campo Remaining Work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as horas e comparar com a capacidade real da equipe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estourar, devolver a história de menor prioridade ao backlog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Taskboard preenchido e capacidade equilibrada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457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85216" y="3401568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28216" y="3447288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da reunião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28216" y="3657600"/>
            <a:ext cx="6812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ordenado com Story Points  ·  disponibilidade real de cada integrante  ·  Definition of Done acordado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032504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4032504"/>
            <a:ext cx="457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85216" y="405079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728216" y="4096512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da reunião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28216" y="4306824"/>
            <a:ext cx="6812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escrita  ·  histórias na Sprint 1  ·  tarefas estimadas em horas  ·  compromisso da equipe com o conjunto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meta da Sprint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frase, escrita antes de escolher os itens — e não a lista dos itens escolhidos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5720" cy="1536192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que não servem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463040"/>
            <a:ext cx="38770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"Fazer as histórias 12, 15 e 18" — é a lista, não a meta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"Adiantar o projeto" — não permite decidir nada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"Terminar o banco de dados" — não entrega resultado a ninguém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809744" y="1078992"/>
            <a:ext cx="4206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09744" y="1078992"/>
            <a:ext cx="45720" cy="1536192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74336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que servem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463040"/>
            <a:ext cx="38770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PedeJá: "Um cliente consegue montar e enviar um pedido simples sem telefonar"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Connexa: "Um estudante consegue declarar disponibilidade e ver os grupos compatíveis com ela"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8229600" cy="859536"/>
          </a:xfrm>
          <a:prstGeom prst="roundRect">
            <a:avLst>
              <a:gd name="adj" fmla="val 6383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21792" y="2852928"/>
            <a:ext cx="7900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3090672"/>
            <a:ext cx="7900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Ao final desta sprint,  &lt;papel&gt;  consegue  &lt;resultado observável&gt;.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45720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21792" y="3840480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a meta serve no meio da sprint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4133088"/>
            <a:ext cx="7900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história trava, a meta diz se vale insistir ou trocá-la por outra que sustente o mesmo resultado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alguém propõe escopo novo, a meta responde objetivamente se aquilo cabe agora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Quanta capacidade a equipe 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que evita o erro mais caro da primeira sprint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5029200" cy="2139696"/>
          </a:xfrm>
          <a:prstGeom prst="roundRect">
            <a:avLst>
              <a:gd name="adj" fmla="val 2564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1170432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EXEMPLO — EQUIPE DE 5, SPRINT DE 2 SEMANAS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408176"/>
            <a:ext cx="470001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Horas declaradas por integrante, por semana ......  6h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Integrantes .....................................  5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Semanas da sprint ...............................  2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------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0E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Capacidade bruta ..............................  60h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- ) reserva para imprevistos e prova .....  20%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- ) reunioes da equipe ...................   4h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------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Capacidade de planejamento ....................  44h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32704" y="1078992"/>
            <a:ext cx="33832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632704" y="1078992"/>
            <a:ext cx="45720" cy="1024128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797296" y="117043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típico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97296" y="1463040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sobre a capacidade bruta e descobrir na segunda semana que ninguém tem as horas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632704" y="2194560"/>
            <a:ext cx="33832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632704" y="2194560"/>
            <a:ext cx="45720" cy="102412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797296" y="228600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da Sprint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97296" y="2578608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 de velocidade, planeje 70% a 80% da capacidade e considere sobra um bom resultado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822960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57200" y="3364992"/>
            <a:ext cx="45720" cy="1042416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21792" y="3456432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é registrado na ferramenta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374904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› Sprints › Capacity: informar as horas por dia de cada integrante e marcar os dias de ausência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de Remaining Work das tarefas aparece comparado à capacidade nas barras do painel Work details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Configurar a Sprint 1 na ferramenta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datas precisam existir antes de qualquer item ser movido para a sprint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512064" cy="512064"/>
          </a:xfrm>
          <a:prstGeom prst="roundRect">
            <a:avLst>
              <a:gd name="adj" fmla="val 8929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296" y="12070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as datas da iteração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25296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Settings  ›  Boards  ›  Project configuration  ›  Iterations: abrir Sprint 1 e informar as datas de início e fim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2029968"/>
            <a:ext cx="512064" cy="512064"/>
          </a:xfrm>
          <a:prstGeom prst="roundRect">
            <a:avLst>
              <a:gd name="adj" fmla="val 8929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5296" y="200253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a sprint para a equipe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25296" y="22128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Settings  ›  Boards  ›  Team configuration  ›  Iterations: a Sprint 1 precisa estar na lista da equipe para aparecer no menu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825496"/>
            <a:ext cx="512064" cy="512064"/>
          </a:xfrm>
          <a:prstGeom prst="roundRect">
            <a:avLst>
              <a:gd name="adj" fmla="val 8929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25296" y="27980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os dias úteis e a capacidade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25296" y="30083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 ›  Sprints  ›  Capacity: horas por dia de cada integrante, mais os dias de ausência já conhecidos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38728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" y="3621024"/>
            <a:ext cx="512064" cy="512064"/>
          </a:xfrm>
          <a:prstGeom prst="roundRect">
            <a:avLst>
              <a:gd name="adj" fmla="val 8929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25296" y="359359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backlog da sprint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25296" y="38039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 ›  Sprints  ›  Backlog: é a tela onde a seleção de itens e a criação de tarefas acontecem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sem datas não aparece no menu da equipe e não gera gráfico de acompanhamento — é o primeiro item a conferir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Selecionar itens e criar as tarefas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backlog do produto ao Taskboard, sem sair da página de Sprints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21615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33856" y="118872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painel de planejamento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33856" y="13990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Backlogs, View options  ›  Planning: aparece uma coluna lateral com as sprints disponíveis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189280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33856" y="1865376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Arrastar as histórias para a Sprint 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3856" y="20756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Arrastar do topo do backlog para o cartão da Sprint 1 grava o Iteration Path da história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87168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2569464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6928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3856" y="254203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as tarefas de cada história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3856" y="275234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Sprints › Backlog, usar o + da história: a tarefa nasce vinculada e já na sprint correta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63824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" y="32461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3856" y="321868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cada tarefa em horas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3856" y="34290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Remaining Work entre 2h e 8h; tarefas maiores devem ser quebradas antes de prosseguir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66928" y="392277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66928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33856" y="3895344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o plano com a capacidade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3856" y="41056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Work details e ajustar até que nenhuma barra ultrapasse a capacidade; se estourar, devolva a história de menor prioridade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17136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7200" y="45171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uma história ao backlog no planejamento é sinal de equipe madura — descobrir o estouro na última semana, não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Atividade 2 — o que entregar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Prazo, escopo mínimo e forma de submissão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20624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5720" cy="2048256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21792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Azure Boards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463040"/>
            <a:ext cx="3877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com datas definidas e selecionada para a equipe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informada para todos os integrantes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a 6 histórias com Iteration Path na Sprint 1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histórias da sprint decompostas em tarefas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com Remaining Work entre 2h e 8h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das horas dentro da capacidade calculada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809744" y="1078992"/>
            <a:ext cx="420624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809744" y="1078992"/>
            <a:ext cx="45720" cy="204825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74336" y="11704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documento de planejamento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463040"/>
            <a:ext cx="3877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 da sprint, em uma frase, no molde apresentado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da capacidade, com as horas declaradas por integrante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da seleção: por que estes itens sustentam a meta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identificados e o que a equipe fará se cada um ocorrer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acordado para esta sprint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457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85216" y="329184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SUBMISSÃO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56816" y="333756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56816" y="354787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da Sprint 1 no Azure Boards  ·  captura do Taskboard  ·  link do documento de planejamento no repositório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22776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3922776"/>
            <a:ext cx="457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85216" y="394106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PRESENÇA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56816" y="39867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planejamento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56816" y="4197096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reunião é realizada com todos os integrantes presentes; o documento registra data, duração e participantes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as atividades serão avaliadas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com peso — o detalhamento completo está nos roteiros em Markdown</a:t>
            </a:r>
            <a:endParaRPr lang="en-US" sz="13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197510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se observa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Hierarquia correta, sem itens órfãos e sem erro de nível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 das histórias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completa, INVEST atendido, fatia vertical preservada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Critérios de aceite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Gherkin verificável, com caminho de exceção em toda história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 justificada a partir do briefing, MoSCoW coerente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Planejamento da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clara, capacidade calculada, tarefas dentro da faixa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529584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57200" y="3529584"/>
            <a:ext cx="45720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21792" y="3621024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zera o critério correspondente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" y="3913632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sem critério de aceite preenchido não é contabilizada, conforme a proposta do projeto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sem ordenação, tarefas sem estimativa ou sprint sem datas invalidam o critério a que se referem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53542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57200" y="45354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roteiros em Markdown trazem a rubrica completa, com os níveis de desempenho de cada critério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07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fazer agora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755648"/>
            <a:ext cx="8229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457200" y="19659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19659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os dois roteiros em Markdown com a equipe reunida, marcando o que não ficou claro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682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57200" y="236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36829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os níveis Epics e Features nas configurações da equipe, antes de criar qualquer item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7706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57200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27706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hierarquia de cima para baixo e ordenar o backlog por decisão da equipe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1729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5720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31729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as histórias do topo até que todas passem no teste INVEST e tenham critérios em Gherkin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5753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57200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" y="357530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a meta da Sprint 1 antes de selecionar qualquer item para ela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9776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57200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14400" y="397764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 capacidade real com as horas declaradas por cada integrante, em voz alta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44988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etapa  →  execução da Sprint 1 e rastreabilidade entre work item, branch e commit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CC36B8-F90B-4E1C-BE19-E21695E8450A}">
  <we:reference id="wa200010001" version="1.0.0.1" store="pt-BR" storeType="OMEX"/>
  <we:alternateReferences>
    <we:reference id="WA200010001" version="1.0.0.1" store="" storeType="OMEX"/>
  </we:alternateReferences>
  <we:properties>
    <we:property name="claude.fileId" value="&quot;85cf91d6-3bf1-40af-8803-1bd2ed065c0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1630</TotalTime>
  <Words>7627</Words>
  <Application>Microsoft Office PowerPoint</Application>
  <PresentationFormat>Apresentação na tela (16:9)</PresentationFormat>
  <Paragraphs>873</Paragraphs>
  <Slides>47</Slides>
  <Notes>47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Boards — Product Backlog e planejamento da Sprint 1</dc:title>
  <dc:subject>Engenharia de Software — Projeto Connexa</dc:subject>
  <dc:creator>Prof. Claudio Nunes</dc:creator>
  <cp:lastModifiedBy>Claudio Nunes</cp:lastModifiedBy>
  <cp:revision>1</cp:revision>
  <dcterms:created xsi:type="dcterms:W3CDTF">2026-08-25T01:20:46Z</dcterms:created>
  <dcterms:modified xsi:type="dcterms:W3CDTF">2026-08-27T06:06:34Z</dcterms:modified>
</cp:coreProperties>
</file>